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36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bath-monitor の紹介です。今回はハードウェア(専用基板)がまだ完成していないため、何を解決したいのか、どんな仕様なのか、全体のシステム構成までをお話しします。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我が家は5人家族で、最後に入った人が湯船の水を抜いて洗うルールです。ところが、誰が入ったかを誰も正確に把握できていないため、2種類の失敗が繰り返されていました。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目的は「最後に入ったのは誰か」を計算することではなく、今日誰が押した/押していないかを把握すること。全員分点いていれば自分が最後だと分かります。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QTTなどは使わず、単純なHTTPだけでつなぎます。すべて自宅LAN内で完結し、クラウドは使いません。パネルは定期的にサーバーからLED状態を取得するので、0時のリセットや再起動後もLEDが正しい状態に戻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PIO(プログラマブルI/O)を3ブロックすべて使い、Wi-Fi・LED・音声をそれぞれDMAで駆動しています。音声はCORE1専用にして、ネットワーク処理の遅延で音が途切れないようにしています。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" y="1417320"/>
            <a:ext cx="365760" cy="365760"/>
          </a:xfrm>
          <a:prstGeom prst="ellipse">
            <a:avLst/>
          </a:prstGeom>
          <a:solidFill>
            <a:srgbClr val="3A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1389888" y="1417320"/>
            <a:ext cx="365760" cy="365760"/>
          </a:xfrm>
          <a:prstGeom prst="ellipse">
            <a:avLst/>
          </a:prstGeom>
          <a:solidFill>
            <a:srgbClr val="E05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1956816" y="1417320"/>
            <a:ext cx="365760" cy="365760"/>
          </a:xfrm>
          <a:prstGeom prst="ellipse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2523744" y="1417320"/>
            <a:ext cx="365760" cy="365760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3090672" y="1417320"/>
            <a:ext cx="365760" cy="365760"/>
          </a:xfrm>
          <a:prstGeom prst="ellipse">
            <a:avLst/>
          </a:prstGeom>
          <a:solidFill>
            <a:srgbClr val="E8C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bath-monitor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家族の「誰がお風呂に入ったか」を見える化する家庭用IoTシステム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CC9D0"/>
                </a:solidFill>
                <a:latin typeface="Arial"/>
                <a:ea typeface="Hiragino Sans"/>
                <a:cs typeface="Hiragino Sans"/>
              </a:rPr>
              <a:t>プロジェクト紹介 ― 課題・仕様・全体システム構成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CC9D0"/>
                </a:solidFill>
                <a:latin typeface="Arial"/>
                <a:ea typeface="Hiragino Sans"/>
                <a:cs typeface="Hiragino Sans"/>
              </a:rPr>
              <a:t>2026年9月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60B856-2119-CAAD-3560-5F3D82F9D390}"/>
              </a:ext>
            </a:extLst>
          </p:cNvPr>
          <p:cNvSpPr txBox="1"/>
          <p:nvPr/>
        </p:nvSpPr>
        <p:spPr>
          <a:xfrm>
            <a:off x="7836195" y="5497033"/>
            <a:ext cx="350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2400">
                <a:solidFill>
                  <a:schemeClr val="bg1"/>
                </a:solidFill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2026/9/27 </a:t>
            </a:r>
            <a:r>
              <a:rPr kumimoji="1" lang="ja-JP" altLang="en-US" sz="2400">
                <a:solidFill>
                  <a:schemeClr val="bg1"/>
                </a:solidFill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長谷部雅彦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我が家のお風呂のルールと困りごと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5人家族 ― 「最後に入った人が湯船の水を抜いて洗う」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931920" cy="4434840"/>
          </a:xfrm>
          <a:prstGeom prst="roundRect">
            <a:avLst>
              <a:gd name="adj" fmla="val 8000"/>
            </a:avLst>
          </a:prstGeom>
          <a:solidFill>
            <a:srgbClr val="0E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CC9D0"/>
                </a:solidFill>
                <a:latin typeface="Arial"/>
                <a:ea typeface="Hiragino Sans"/>
                <a:cs typeface="Hiragino Sans"/>
              </a:rPr>
              <a:t>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最後に入った人が
湯船の水を抜いて洗う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でも「自分が最後かどうか」が
分からない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5349240"/>
            <a:ext cx="329184" cy="329184"/>
          </a:xfrm>
          <a:prstGeom prst="ellipse">
            <a:avLst/>
          </a:prstGeom>
          <a:solidFill>
            <a:srgbClr val="3A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371600" y="5349240"/>
            <a:ext cx="329184" cy="329184"/>
          </a:xfrm>
          <a:prstGeom prst="ellipse">
            <a:avLst/>
          </a:prstGeom>
          <a:solidFill>
            <a:srgbClr val="E05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74519" y="5349240"/>
            <a:ext cx="329184" cy="329184"/>
          </a:xfrm>
          <a:prstGeom prst="ellipse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77440" y="5349240"/>
            <a:ext cx="329184" cy="329184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80360" y="5349240"/>
            <a:ext cx="329184" cy="329184"/>
          </a:xfrm>
          <a:prstGeom prst="ellipse">
            <a:avLst/>
          </a:prstGeom>
          <a:solidFill>
            <a:srgbClr val="E8C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534924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5人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783080"/>
            <a:ext cx="6812280" cy="13258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5120640" y="2148840"/>
            <a:ext cx="594360" cy="59436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984248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早すぎた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23160"/>
            <a:ext cx="5440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まだ入っていない人がいるのに、湯船が空になって洗われていた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291839"/>
            <a:ext cx="6812280" cy="13258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20640" y="3657599"/>
            <a:ext cx="594360" cy="59436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493008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忘れられた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931920"/>
            <a:ext cx="5440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もう全員入ったのに「まだ誰か入っていない」と思い込み、朝まで湯船が洗われなかった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800600"/>
            <a:ext cx="6812280" cy="13258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20640" y="5166360"/>
            <a:ext cx="594360" cy="59436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001768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続かなかった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440680"/>
            <a:ext cx="5440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入った人が磁石で印を付ける運用も試したが徹底されず、問題が起き続けている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解決したいこと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「今日、誰がもう入ったか」を家族全員が確実に分かるようにする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記録が手間にならない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入ったら浴室のボタンを
1回押すだけ。
磁石のような「つい忘れる」
操作を減らす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17719" y="2103120"/>
            <a:ext cx="685800" cy="68580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971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その場で一目で分かる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47472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押した人のLEDが点灯。
押した瞬間にメロディも鳴り
「押した」ことが分かる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8308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66759" y="2103120"/>
            <a:ext cx="685800" cy="68580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971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家のどこからでも分かる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47472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スマホやPCのブラウザで
誰が入ったか・今入浴中か
をリアルタイムに確認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E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7B47C"/>
                </a:solidFill>
                <a:latin typeface="Arial"/>
                <a:ea typeface="Hiragino Sans"/>
                <a:cs typeface="Hiragino Sans"/>
              </a:rPr>
              <a:t>ゴール：</a:t>
            </a:r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「全員のLEDが点いた」＝自分が最後。迷わず湯船を洗える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浴室の壁に付けたパネルのボタンを押すだけ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お風呂に入る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脱衣所の照明が点くと
照度センサーが
「入浴中」を検知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291840"/>
            <a:ext cx="246888" cy="0"/>
          </a:xfrm>
          <a:prstGeom prst="line">
            <a:avLst/>
          </a:prstGeom>
          <a:ln w="31750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1568" y="17830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75888" y="2057400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743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自分のボタンを押す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24612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自分のLEDが自分の色で
点灯し、自分専用の
メロディが鳴る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1888" y="3291840"/>
            <a:ext cx="246888" cy="0"/>
          </a:xfrm>
          <a:prstGeom prst="line">
            <a:avLst/>
          </a:prstGeom>
          <a:ln w="31750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54496" y="17830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28816" y="2057400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743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間違えたら長押し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4612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2秒の長押しで取り消し。
LEDが消え、
取り消し音が鳴る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14816" y="3291840"/>
            <a:ext cx="246887" cy="0"/>
          </a:xfrm>
          <a:prstGeom prst="line">
            <a:avLst/>
          </a:prstGeom>
          <a:ln w="31750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07424" y="17830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81744" y="2057400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743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毎日0時にリセット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24612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日付が変わると
全員が「未入浴」に戻る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C7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5303520"/>
            <a:ext cx="685800" cy="68580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見る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120640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いつでも：</a:t>
            </a:r>
            <a:r>
              <a:rPr sz="16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スマホ/PCのブラウザでダッシュボードを開けば、誰が入ったか・今誰かが入浴中かが分かる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仕様：浴室パネル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浴室の壁に取り付ける箱に、ボタン・LED・センサー・スピーカーをまとめる(完成予想図)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5</a:t>
            </a:r>
          </a:p>
        </p:txBody>
      </p:sp>
      <p:sp>
        <p:nvSpPr>
          <p:cNvPr id="5" name="Freeform 4"/>
          <p:cNvSpPr/>
          <p:nvPr/>
        </p:nvSpPr>
        <p:spPr>
          <a:xfrm>
            <a:off x="6789420" y="2470709"/>
            <a:ext cx="971093" cy="3646627"/>
          </a:xfrm>
          <a:custGeom>
            <a:avLst/>
            <a:gdLst/>
            <a:ahLst/>
            <a:cxnLst/>
            <a:rect l="l" t="t" r="r" b="b"/>
            <a:pathLst>
              <a:path w="1062" h="3988">
                <a:moveTo>
                  <a:pt x="455" y="386"/>
                </a:moveTo>
                <a:lnTo>
                  <a:pt x="1062" y="0"/>
                </a:lnTo>
                <a:lnTo>
                  <a:pt x="1062" y="3312"/>
                </a:lnTo>
                <a:lnTo>
                  <a:pt x="0" y="3988"/>
                </a:lnTo>
                <a:lnTo>
                  <a:pt x="0" y="3160"/>
                </a:lnTo>
                <a:lnTo>
                  <a:pt x="455" y="1950"/>
                </a:lnTo>
                <a:close/>
              </a:path>
            </a:pathLst>
          </a:custGeom>
          <a:solidFill>
            <a:srgbClr val="B9D3D9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840480" y="2470709"/>
            <a:ext cx="3920033" cy="352958"/>
          </a:xfrm>
          <a:custGeom>
            <a:avLst/>
            <a:gdLst/>
            <a:ahLst/>
            <a:cxnLst/>
            <a:rect l="l" t="t" r="r" b="b"/>
            <a:pathLst>
              <a:path w="4287" h="386">
                <a:moveTo>
                  <a:pt x="0" y="386"/>
                </a:moveTo>
                <a:lnTo>
                  <a:pt x="3680" y="386"/>
                </a:lnTo>
                <a:lnTo>
                  <a:pt x="4287" y="0"/>
                </a:lnTo>
                <a:lnTo>
                  <a:pt x="607" y="0"/>
                </a:lnTo>
                <a:close/>
              </a:path>
            </a:pathLst>
          </a:custGeom>
          <a:solidFill>
            <a:srgbClr val="F4F9FA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840480" y="2823667"/>
            <a:ext cx="3364992" cy="1430122"/>
          </a:xfrm>
          <a:custGeom>
            <a:avLst/>
            <a:gdLst/>
            <a:ahLst/>
            <a:cxnLst/>
            <a:rect l="l" t="t" r="r" b="b"/>
            <a:pathLst>
              <a:path w="3680" h="1564">
                <a:moveTo>
                  <a:pt x="0" y="1564"/>
                </a:moveTo>
                <a:lnTo>
                  <a:pt x="0" y="0"/>
                </a:lnTo>
                <a:lnTo>
                  <a:pt x="3680" y="0"/>
                </a:lnTo>
                <a:lnTo>
                  <a:pt x="3680" y="1564"/>
                </a:lnTo>
                <a:close/>
              </a:path>
            </a:pathLst>
          </a:custGeom>
          <a:solidFill>
            <a:srgbClr val="E6F1F3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3424428" y="4253789"/>
            <a:ext cx="3781044" cy="1106424"/>
          </a:xfrm>
          <a:custGeom>
            <a:avLst/>
            <a:gdLst/>
            <a:ahLst/>
            <a:cxnLst/>
            <a:rect l="l" t="t" r="r" b="b"/>
            <a:pathLst>
              <a:path w="4135" h="1210">
                <a:moveTo>
                  <a:pt x="455" y="0"/>
                </a:moveTo>
                <a:lnTo>
                  <a:pt x="4135" y="0"/>
                </a:lnTo>
                <a:lnTo>
                  <a:pt x="3680" y="1210"/>
                </a:lnTo>
                <a:lnTo>
                  <a:pt x="0" y="1210"/>
                </a:lnTo>
                <a:close/>
              </a:path>
            </a:pathLst>
          </a:custGeom>
          <a:solidFill>
            <a:srgbClr val="D3E7EB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/>
          <p:cNvSpPr/>
          <p:nvPr/>
        </p:nvSpPr>
        <p:spPr>
          <a:xfrm>
            <a:off x="3424428" y="5360213"/>
            <a:ext cx="3364992" cy="757123"/>
          </a:xfrm>
          <a:custGeom>
            <a:avLst/>
            <a:gdLst/>
            <a:ahLst/>
            <a:cxnLst/>
            <a:rect l="l" t="t" r="r" b="b"/>
            <a:pathLst>
              <a:path w="3680" h="828">
                <a:moveTo>
                  <a:pt x="0" y="828"/>
                </a:moveTo>
                <a:lnTo>
                  <a:pt x="0" y="0"/>
                </a:lnTo>
                <a:lnTo>
                  <a:pt x="3680" y="0"/>
                </a:lnTo>
                <a:lnTo>
                  <a:pt x="3680" y="828"/>
                </a:lnTo>
                <a:close/>
              </a:path>
            </a:pathLst>
          </a:custGeom>
          <a:solidFill>
            <a:srgbClr val="E6F1F3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4176979" y="3130906"/>
            <a:ext cx="925373" cy="58522"/>
          </a:xfrm>
          <a:custGeom>
            <a:avLst/>
            <a:gdLst/>
            <a:ahLst/>
            <a:cxnLst/>
            <a:rect l="l" t="t" r="r" b="b"/>
            <a:pathLst>
              <a:path w="1012" h="64">
                <a:moveTo>
                  <a:pt x="0" y="64"/>
                </a:moveTo>
                <a:lnTo>
                  <a:pt x="1012" y="64"/>
                </a:lnTo>
                <a:lnTo>
                  <a:pt x="1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6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4176979" y="3281782"/>
            <a:ext cx="925373" cy="59436"/>
          </a:xfrm>
          <a:custGeom>
            <a:avLst/>
            <a:gdLst/>
            <a:ahLst/>
            <a:cxnLst/>
            <a:rect l="l" t="t" r="r" b="b"/>
            <a:pathLst>
              <a:path w="1012" h="65">
                <a:moveTo>
                  <a:pt x="0" y="65"/>
                </a:moveTo>
                <a:lnTo>
                  <a:pt x="1012" y="65"/>
                </a:lnTo>
                <a:lnTo>
                  <a:pt x="1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6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4176979" y="3433572"/>
            <a:ext cx="925373" cy="58522"/>
          </a:xfrm>
          <a:custGeom>
            <a:avLst/>
            <a:gdLst/>
            <a:ahLst/>
            <a:cxnLst/>
            <a:rect l="l" t="t" r="r" b="b"/>
            <a:pathLst>
              <a:path w="1012" h="64">
                <a:moveTo>
                  <a:pt x="0" y="64"/>
                </a:moveTo>
                <a:lnTo>
                  <a:pt x="1012" y="64"/>
                </a:lnTo>
                <a:lnTo>
                  <a:pt x="1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6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4176979" y="3585362"/>
            <a:ext cx="925373" cy="58522"/>
          </a:xfrm>
          <a:custGeom>
            <a:avLst/>
            <a:gdLst/>
            <a:ahLst/>
            <a:cxnLst/>
            <a:rect l="l" t="t" r="r" b="b"/>
            <a:pathLst>
              <a:path w="1012" h="64">
                <a:moveTo>
                  <a:pt x="0" y="64"/>
                </a:moveTo>
                <a:lnTo>
                  <a:pt x="1012" y="64"/>
                </a:lnTo>
                <a:lnTo>
                  <a:pt x="1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6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4176979" y="3736238"/>
            <a:ext cx="925373" cy="59436"/>
          </a:xfrm>
          <a:custGeom>
            <a:avLst/>
            <a:gdLst/>
            <a:ahLst/>
            <a:cxnLst/>
            <a:rect l="l" t="t" r="r" b="b"/>
            <a:pathLst>
              <a:path w="1012" h="65">
                <a:moveTo>
                  <a:pt x="0" y="65"/>
                </a:moveTo>
                <a:lnTo>
                  <a:pt x="1012" y="65"/>
                </a:lnTo>
                <a:lnTo>
                  <a:pt x="1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6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4176979" y="3888029"/>
            <a:ext cx="925373" cy="58522"/>
          </a:xfrm>
          <a:custGeom>
            <a:avLst/>
            <a:gdLst/>
            <a:ahLst/>
            <a:cxnLst/>
            <a:rect l="l" t="t" r="r" b="b"/>
            <a:pathLst>
              <a:path w="1012" h="64">
                <a:moveTo>
                  <a:pt x="0" y="64"/>
                </a:moveTo>
                <a:lnTo>
                  <a:pt x="1012" y="64"/>
                </a:lnTo>
                <a:lnTo>
                  <a:pt x="1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6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5682996" y="3320186"/>
            <a:ext cx="437083" cy="437083"/>
          </a:xfrm>
          <a:custGeom>
            <a:avLst/>
            <a:gdLst/>
            <a:ahLst/>
            <a:cxnLst/>
            <a:rect l="l" t="t" r="r" b="b"/>
            <a:pathLst>
              <a:path w="478" h="478">
                <a:moveTo>
                  <a:pt x="478" y="239"/>
                </a:moveTo>
                <a:lnTo>
                  <a:pt x="472" y="186"/>
                </a:lnTo>
                <a:lnTo>
                  <a:pt x="455" y="135"/>
                </a:lnTo>
                <a:lnTo>
                  <a:pt x="426" y="90"/>
                </a:lnTo>
                <a:lnTo>
                  <a:pt x="388" y="52"/>
                </a:lnTo>
                <a:lnTo>
                  <a:pt x="343" y="23"/>
                </a:lnTo>
                <a:lnTo>
                  <a:pt x="292" y="6"/>
                </a:lnTo>
                <a:lnTo>
                  <a:pt x="239" y="0"/>
                </a:lnTo>
                <a:lnTo>
                  <a:pt x="186" y="6"/>
                </a:lnTo>
                <a:lnTo>
                  <a:pt x="135" y="23"/>
                </a:lnTo>
                <a:lnTo>
                  <a:pt x="90" y="52"/>
                </a:lnTo>
                <a:lnTo>
                  <a:pt x="52" y="90"/>
                </a:lnTo>
                <a:lnTo>
                  <a:pt x="23" y="135"/>
                </a:lnTo>
                <a:lnTo>
                  <a:pt x="6" y="186"/>
                </a:lnTo>
                <a:lnTo>
                  <a:pt x="0" y="239"/>
                </a:lnTo>
                <a:lnTo>
                  <a:pt x="6" y="292"/>
                </a:lnTo>
                <a:lnTo>
                  <a:pt x="23" y="343"/>
                </a:lnTo>
                <a:lnTo>
                  <a:pt x="52" y="388"/>
                </a:lnTo>
                <a:lnTo>
                  <a:pt x="90" y="426"/>
                </a:lnTo>
                <a:lnTo>
                  <a:pt x="135" y="455"/>
                </a:lnTo>
                <a:lnTo>
                  <a:pt x="186" y="472"/>
                </a:lnTo>
                <a:lnTo>
                  <a:pt x="239" y="478"/>
                </a:lnTo>
                <a:lnTo>
                  <a:pt x="292" y="472"/>
                </a:lnTo>
                <a:lnTo>
                  <a:pt x="343" y="455"/>
                </a:lnTo>
                <a:lnTo>
                  <a:pt x="388" y="426"/>
                </a:lnTo>
                <a:lnTo>
                  <a:pt x="426" y="388"/>
                </a:lnTo>
                <a:lnTo>
                  <a:pt x="455" y="343"/>
                </a:lnTo>
                <a:lnTo>
                  <a:pt x="472" y="29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5775350" y="3412541"/>
            <a:ext cx="252374" cy="252374"/>
          </a:xfrm>
          <a:custGeom>
            <a:avLst/>
            <a:gdLst/>
            <a:ahLst/>
            <a:cxnLst/>
            <a:rect l="l" t="t" r="r" b="b"/>
            <a:pathLst>
              <a:path w="276" h="276">
                <a:moveTo>
                  <a:pt x="276" y="138"/>
                </a:moveTo>
                <a:lnTo>
                  <a:pt x="273" y="107"/>
                </a:lnTo>
                <a:lnTo>
                  <a:pt x="262" y="78"/>
                </a:lnTo>
                <a:lnTo>
                  <a:pt x="246" y="52"/>
                </a:lnTo>
                <a:lnTo>
                  <a:pt x="224" y="30"/>
                </a:lnTo>
                <a:lnTo>
                  <a:pt x="198" y="14"/>
                </a:lnTo>
                <a:lnTo>
                  <a:pt x="169" y="3"/>
                </a:lnTo>
                <a:lnTo>
                  <a:pt x="138" y="0"/>
                </a:lnTo>
                <a:lnTo>
                  <a:pt x="107" y="3"/>
                </a:lnTo>
                <a:lnTo>
                  <a:pt x="78" y="14"/>
                </a:lnTo>
                <a:lnTo>
                  <a:pt x="52" y="30"/>
                </a:lnTo>
                <a:lnTo>
                  <a:pt x="30" y="52"/>
                </a:lnTo>
                <a:lnTo>
                  <a:pt x="14" y="78"/>
                </a:lnTo>
                <a:lnTo>
                  <a:pt x="3" y="107"/>
                </a:lnTo>
                <a:lnTo>
                  <a:pt x="0" y="138"/>
                </a:lnTo>
                <a:lnTo>
                  <a:pt x="3" y="169"/>
                </a:lnTo>
                <a:lnTo>
                  <a:pt x="14" y="198"/>
                </a:lnTo>
                <a:lnTo>
                  <a:pt x="30" y="224"/>
                </a:lnTo>
                <a:lnTo>
                  <a:pt x="52" y="246"/>
                </a:lnTo>
                <a:lnTo>
                  <a:pt x="78" y="262"/>
                </a:lnTo>
                <a:lnTo>
                  <a:pt x="107" y="273"/>
                </a:lnTo>
                <a:lnTo>
                  <a:pt x="138" y="276"/>
                </a:lnTo>
                <a:lnTo>
                  <a:pt x="169" y="273"/>
                </a:lnTo>
                <a:lnTo>
                  <a:pt x="198" y="262"/>
                </a:lnTo>
                <a:lnTo>
                  <a:pt x="224" y="246"/>
                </a:lnTo>
                <a:lnTo>
                  <a:pt x="246" y="224"/>
                </a:lnTo>
                <a:lnTo>
                  <a:pt x="262" y="198"/>
                </a:lnTo>
                <a:lnTo>
                  <a:pt x="273" y="169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4084625" y="4418381"/>
            <a:ext cx="232258" cy="213970"/>
          </a:xfrm>
          <a:custGeom>
            <a:avLst/>
            <a:gdLst/>
            <a:ahLst/>
            <a:cxnLst/>
            <a:rect l="l" t="t" r="r" b="b"/>
            <a:pathLst>
              <a:path w="254" h="234">
                <a:moveTo>
                  <a:pt x="247" y="117"/>
                </a:moveTo>
                <a:lnTo>
                  <a:pt x="234" y="143"/>
                </a:lnTo>
                <a:lnTo>
                  <a:pt x="216" y="167"/>
                </a:lnTo>
                <a:lnTo>
                  <a:pt x="193" y="190"/>
                </a:lnTo>
                <a:lnTo>
                  <a:pt x="167" y="208"/>
                </a:lnTo>
                <a:lnTo>
                  <a:pt x="140" y="222"/>
                </a:lnTo>
                <a:lnTo>
                  <a:pt x="111" y="231"/>
                </a:lnTo>
                <a:lnTo>
                  <a:pt x="83" y="234"/>
                </a:lnTo>
                <a:lnTo>
                  <a:pt x="58" y="231"/>
                </a:lnTo>
                <a:lnTo>
                  <a:pt x="36" y="222"/>
                </a:lnTo>
                <a:lnTo>
                  <a:pt x="18" y="208"/>
                </a:lnTo>
                <a:lnTo>
                  <a:pt x="6" y="190"/>
                </a:lnTo>
                <a:lnTo>
                  <a:pt x="0" y="167"/>
                </a:lnTo>
                <a:lnTo>
                  <a:pt x="1" y="143"/>
                </a:lnTo>
                <a:lnTo>
                  <a:pt x="8" y="117"/>
                </a:lnTo>
                <a:lnTo>
                  <a:pt x="20" y="91"/>
                </a:lnTo>
                <a:lnTo>
                  <a:pt x="39" y="66"/>
                </a:lnTo>
                <a:lnTo>
                  <a:pt x="61" y="44"/>
                </a:lnTo>
                <a:lnTo>
                  <a:pt x="87" y="25"/>
                </a:lnTo>
                <a:lnTo>
                  <a:pt x="115" y="11"/>
                </a:lnTo>
                <a:lnTo>
                  <a:pt x="144" y="3"/>
                </a:lnTo>
                <a:lnTo>
                  <a:pt x="171" y="0"/>
                </a:lnTo>
                <a:lnTo>
                  <a:pt x="197" y="3"/>
                </a:lnTo>
                <a:lnTo>
                  <a:pt x="219" y="11"/>
                </a:lnTo>
                <a:lnTo>
                  <a:pt x="236" y="25"/>
                </a:lnTo>
                <a:lnTo>
                  <a:pt x="248" y="44"/>
                </a:lnTo>
                <a:lnTo>
                  <a:pt x="254" y="66"/>
                </a:lnTo>
                <a:lnTo>
                  <a:pt x="254" y="91"/>
                </a:lnTo>
                <a:close/>
              </a:path>
            </a:pathLst>
          </a:custGeom>
          <a:solidFill>
            <a:srgbClr val="3A5B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4694530" y="4418381"/>
            <a:ext cx="232258" cy="213970"/>
          </a:xfrm>
          <a:custGeom>
            <a:avLst/>
            <a:gdLst/>
            <a:ahLst/>
            <a:cxnLst/>
            <a:rect l="l" t="t" r="r" b="b"/>
            <a:pathLst>
              <a:path w="254" h="234">
                <a:moveTo>
                  <a:pt x="247" y="117"/>
                </a:moveTo>
                <a:lnTo>
                  <a:pt x="234" y="143"/>
                </a:lnTo>
                <a:lnTo>
                  <a:pt x="216" y="167"/>
                </a:lnTo>
                <a:lnTo>
                  <a:pt x="193" y="190"/>
                </a:lnTo>
                <a:lnTo>
                  <a:pt x="167" y="208"/>
                </a:lnTo>
                <a:lnTo>
                  <a:pt x="140" y="222"/>
                </a:lnTo>
                <a:lnTo>
                  <a:pt x="111" y="231"/>
                </a:lnTo>
                <a:lnTo>
                  <a:pt x="83" y="234"/>
                </a:lnTo>
                <a:lnTo>
                  <a:pt x="58" y="231"/>
                </a:lnTo>
                <a:lnTo>
                  <a:pt x="36" y="222"/>
                </a:lnTo>
                <a:lnTo>
                  <a:pt x="18" y="208"/>
                </a:lnTo>
                <a:lnTo>
                  <a:pt x="6" y="190"/>
                </a:lnTo>
                <a:lnTo>
                  <a:pt x="0" y="167"/>
                </a:lnTo>
                <a:lnTo>
                  <a:pt x="1" y="143"/>
                </a:lnTo>
                <a:lnTo>
                  <a:pt x="8" y="117"/>
                </a:lnTo>
                <a:lnTo>
                  <a:pt x="20" y="91"/>
                </a:lnTo>
                <a:lnTo>
                  <a:pt x="39" y="66"/>
                </a:lnTo>
                <a:lnTo>
                  <a:pt x="61" y="44"/>
                </a:lnTo>
                <a:lnTo>
                  <a:pt x="87" y="25"/>
                </a:lnTo>
                <a:lnTo>
                  <a:pt x="115" y="11"/>
                </a:lnTo>
                <a:lnTo>
                  <a:pt x="144" y="3"/>
                </a:lnTo>
                <a:lnTo>
                  <a:pt x="171" y="0"/>
                </a:lnTo>
                <a:lnTo>
                  <a:pt x="197" y="3"/>
                </a:lnTo>
                <a:lnTo>
                  <a:pt x="219" y="11"/>
                </a:lnTo>
                <a:lnTo>
                  <a:pt x="236" y="25"/>
                </a:lnTo>
                <a:lnTo>
                  <a:pt x="248" y="44"/>
                </a:lnTo>
                <a:lnTo>
                  <a:pt x="254" y="66"/>
                </a:lnTo>
                <a:lnTo>
                  <a:pt x="254" y="91"/>
                </a:lnTo>
                <a:close/>
              </a:path>
            </a:pathLst>
          </a:custGeom>
          <a:solidFill>
            <a:srgbClr val="E0559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5304434" y="4418381"/>
            <a:ext cx="232258" cy="213970"/>
          </a:xfrm>
          <a:custGeom>
            <a:avLst/>
            <a:gdLst/>
            <a:ahLst/>
            <a:cxnLst/>
            <a:rect l="l" t="t" r="r" b="b"/>
            <a:pathLst>
              <a:path w="254" h="234">
                <a:moveTo>
                  <a:pt x="247" y="117"/>
                </a:moveTo>
                <a:lnTo>
                  <a:pt x="234" y="143"/>
                </a:lnTo>
                <a:lnTo>
                  <a:pt x="216" y="167"/>
                </a:lnTo>
                <a:lnTo>
                  <a:pt x="193" y="190"/>
                </a:lnTo>
                <a:lnTo>
                  <a:pt x="167" y="208"/>
                </a:lnTo>
                <a:lnTo>
                  <a:pt x="140" y="222"/>
                </a:lnTo>
                <a:lnTo>
                  <a:pt x="111" y="231"/>
                </a:lnTo>
                <a:lnTo>
                  <a:pt x="83" y="234"/>
                </a:lnTo>
                <a:lnTo>
                  <a:pt x="58" y="231"/>
                </a:lnTo>
                <a:lnTo>
                  <a:pt x="36" y="222"/>
                </a:lnTo>
                <a:lnTo>
                  <a:pt x="18" y="208"/>
                </a:lnTo>
                <a:lnTo>
                  <a:pt x="6" y="190"/>
                </a:lnTo>
                <a:lnTo>
                  <a:pt x="0" y="167"/>
                </a:lnTo>
                <a:lnTo>
                  <a:pt x="1" y="143"/>
                </a:lnTo>
                <a:lnTo>
                  <a:pt x="8" y="117"/>
                </a:lnTo>
                <a:lnTo>
                  <a:pt x="20" y="91"/>
                </a:lnTo>
                <a:lnTo>
                  <a:pt x="39" y="66"/>
                </a:lnTo>
                <a:lnTo>
                  <a:pt x="61" y="44"/>
                </a:lnTo>
                <a:lnTo>
                  <a:pt x="87" y="25"/>
                </a:lnTo>
                <a:lnTo>
                  <a:pt x="115" y="11"/>
                </a:lnTo>
                <a:lnTo>
                  <a:pt x="144" y="3"/>
                </a:lnTo>
                <a:lnTo>
                  <a:pt x="171" y="0"/>
                </a:lnTo>
                <a:lnTo>
                  <a:pt x="197" y="3"/>
                </a:lnTo>
                <a:lnTo>
                  <a:pt x="219" y="11"/>
                </a:lnTo>
                <a:lnTo>
                  <a:pt x="236" y="25"/>
                </a:lnTo>
                <a:lnTo>
                  <a:pt x="248" y="44"/>
                </a:lnTo>
                <a:lnTo>
                  <a:pt x="254" y="66"/>
                </a:lnTo>
                <a:lnTo>
                  <a:pt x="254" y="91"/>
                </a:lnTo>
                <a:close/>
              </a:path>
            </a:pathLst>
          </a:custGeom>
          <a:solidFill>
            <a:srgbClr val="2FA8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5914339" y="4418381"/>
            <a:ext cx="232258" cy="213970"/>
          </a:xfrm>
          <a:custGeom>
            <a:avLst/>
            <a:gdLst/>
            <a:ahLst/>
            <a:cxnLst/>
            <a:rect l="l" t="t" r="r" b="b"/>
            <a:pathLst>
              <a:path w="254" h="234">
                <a:moveTo>
                  <a:pt x="247" y="117"/>
                </a:moveTo>
                <a:lnTo>
                  <a:pt x="234" y="143"/>
                </a:lnTo>
                <a:lnTo>
                  <a:pt x="216" y="167"/>
                </a:lnTo>
                <a:lnTo>
                  <a:pt x="193" y="190"/>
                </a:lnTo>
                <a:lnTo>
                  <a:pt x="167" y="208"/>
                </a:lnTo>
                <a:lnTo>
                  <a:pt x="140" y="222"/>
                </a:lnTo>
                <a:lnTo>
                  <a:pt x="111" y="231"/>
                </a:lnTo>
                <a:lnTo>
                  <a:pt x="83" y="234"/>
                </a:lnTo>
                <a:lnTo>
                  <a:pt x="58" y="231"/>
                </a:lnTo>
                <a:lnTo>
                  <a:pt x="36" y="222"/>
                </a:lnTo>
                <a:lnTo>
                  <a:pt x="18" y="208"/>
                </a:lnTo>
                <a:lnTo>
                  <a:pt x="6" y="190"/>
                </a:lnTo>
                <a:lnTo>
                  <a:pt x="0" y="167"/>
                </a:lnTo>
                <a:lnTo>
                  <a:pt x="1" y="143"/>
                </a:lnTo>
                <a:lnTo>
                  <a:pt x="8" y="117"/>
                </a:lnTo>
                <a:lnTo>
                  <a:pt x="20" y="91"/>
                </a:lnTo>
                <a:lnTo>
                  <a:pt x="39" y="66"/>
                </a:lnTo>
                <a:lnTo>
                  <a:pt x="61" y="44"/>
                </a:lnTo>
                <a:lnTo>
                  <a:pt x="87" y="25"/>
                </a:lnTo>
                <a:lnTo>
                  <a:pt x="115" y="11"/>
                </a:lnTo>
                <a:lnTo>
                  <a:pt x="144" y="3"/>
                </a:lnTo>
                <a:lnTo>
                  <a:pt x="171" y="0"/>
                </a:lnTo>
                <a:lnTo>
                  <a:pt x="197" y="3"/>
                </a:lnTo>
                <a:lnTo>
                  <a:pt x="219" y="11"/>
                </a:lnTo>
                <a:lnTo>
                  <a:pt x="236" y="25"/>
                </a:lnTo>
                <a:lnTo>
                  <a:pt x="248" y="44"/>
                </a:lnTo>
                <a:lnTo>
                  <a:pt x="254" y="66"/>
                </a:lnTo>
                <a:lnTo>
                  <a:pt x="254" y="91"/>
                </a:lnTo>
                <a:close/>
              </a:path>
            </a:pathLst>
          </a:custGeom>
          <a:solidFill>
            <a:srgbClr val="F08A2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6524244" y="4418381"/>
            <a:ext cx="232258" cy="213970"/>
          </a:xfrm>
          <a:custGeom>
            <a:avLst/>
            <a:gdLst/>
            <a:ahLst/>
            <a:cxnLst/>
            <a:rect l="l" t="t" r="r" b="b"/>
            <a:pathLst>
              <a:path w="254" h="234">
                <a:moveTo>
                  <a:pt x="247" y="117"/>
                </a:moveTo>
                <a:lnTo>
                  <a:pt x="234" y="143"/>
                </a:lnTo>
                <a:lnTo>
                  <a:pt x="216" y="167"/>
                </a:lnTo>
                <a:lnTo>
                  <a:pt x="193" y="190"/>
                </a:lnTo>
                <a:lnTo>
                  <a:pt x="167" y="208"/>
                </a:lnTo>
                <a:lnTo>
                  <a:pt x="140" y="222"/>
                </a:lnTo>
                <a:lnTo>
                  <a:pt x="111" y="231"/>
                </a:lnTo>
                <a:lnTo>
                  <a:pt x="83" y="234"/>
                </a:lnTo>
                <a:lnTo>
                  <a:pt x="58" y="231"/>
                </a:lnTo>
                <a:lnTo>
                  <a:pt x="36" y="222"/>
                </a:lnTo>
                <a:lnTo>
                  <a:pt x="18" y="208"/>
                </a:lnTo>
                <a:lnTo>
                  <a:pt x="6" y="190"/>
                </a:lnTo>
                <a:lnTo>
                  <a:pt x="0" y="167"/>
                </a:lnTo>
                <a:lnTo>
                  <a:pt x="1" y="143"/>
                </a:lnTo>
                <a:lnTo>
                  <a:pt x="8" y="117"/>
                </a:lnTo>
                <a:lnTo>
                  <a:pt x="20" y="91"/>
                </a:lnTo>
                <a:lnTo>
                  <a:pt x="39" y="66"/>
                </a:lnTo>
                <a:lnTo>
                  <a:pt x="61" y="44"/>
                </a:lnTo>
                <a:lnTo>
                  <a:pt x="87" y="25"/>
                </a:lnTo>
                <a:lnTo>
                  <a:pt x="115" y="11"/>
                </a:lnTo>
                <a:lnTo>
                  <a:pt x="144" y="3"/>
                </a:lnTo>
                <a:lnTo>
                  <a:pt x="171" y="0"/>
                </a:lnTo>
                <a:lnTo>
                  <a:pt x="197" y="3"/>
                </a:lnTo>
                <a:lnTo>
                  <a:pt x="219" y="11"/>
                </a:lnTo>
                <a:lnTo>
                  <a:pt x="236" y="25"/>
                </a:lnTo>
                <a:lnTo>
                  <a:pt x="248" y="44"/>
                </a:lnTo>
                <a:lnTo>
                  <a:pt x="254" y="66"/>
                </a:lnTo>
                <a:lnTo>
                  <a:pt x="254" y="91"/>
                </a:lnTo>
                <a:close/>
              </a:path>
            </a:pathLst>
          </a:custGeom>
          <a:solidFill>
            <a:srgbClr val="E8C21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3738982" y="4820717"/>
            <a:ext cx="552298" cy="395021"/>
          </a:xfrm>
          <a:custGeom>
            <a:avLst/>
            <a:gdLst/>
            <a:ahLst/>
            <a:cxnLst/>
            <a:rect l="l" t="t" r="r" b="b"/>
            <a:pathLst>
              <a:path w="604" h="432">
                <a:moveTo>
                  <a:pt x="163" y="0"/>
                </a:moveTo>
                <a:lnTo>
                  <a:pt x="604" y="0"/>
                </a:lnTo>
                <a:lnTo>
                  <a:pt x="442" y="432"/>
                </a:lnTo>
                <a:lnTo>
                  <a:pt x="0" y="43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4348886" y="4820717"/>
            <a:ext cx="552298" cy="395021"/>
          </a:xfrm>
          <a:custGeom>
            <a:avLst/>
            <a:gdLst/>
            <a:ahLst/>
            <a:cxnLst/>
            <a:rect l="l" t="t" r="r" b="b"/>
            <a:pathLst>
              <a:path w="604" h="432">
                <a:moveTo>
                  <a:pt x="163" y="0"/>
                </a:moveTo>
                <a:lnTo>
                  <a:pt x="604" y="0"/>
                </a:lnTo>
                <a:lnTo>
                  <a:pt x="442" y="432"/>
                </a:lnTo>
                <a:lnTo>
                  <a:pt x="0" y="43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4958791" y="4820717"/>
            <a:ext cx="552298" cy="395021"/>
          </a:xfrm>
          <a:custGeom>
            <a:avLst/>
            <a:gdLst/>
            <a:ahLst/>
            <a:cxnLst/>
            <a:rect l="l" t="t" r="r" b="b"/>
            <a:pathLst>
              <a:path w="604" h="432">
                <a:moveTo>
                  <a:pt x="163" y="0"/>
                </a:moveTo>
                <a:lnTo>
                  <a:pt x="604" y="0"/>
                </a:lnTo>
                <a:lnTo>
                  <a:pt x="442" y="432"/>
                </a:lnTo>
                <a:lnTo>
                  <a:pt x="0" y="43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5568696" y="4820717"/>
            <a:ext cx="552298" cy="395021"/>
          </a:xfrm>
          <a:custGeom>
            <a:avLst/>
            <a:gdLst/>
            <a:ahLst/>
            <a:cxnLst/>
            <a:rect l="l" t="t" r="r" b="b"/>
            <a:pathLst>
              <a:path w="604" h="432">
                <a:moveTo>
                  <a:pt x="163" y="0"/>
                </a:moveTo>
                <a:lnTo>
                  <a:pt x="604" y="0"/>
                </a:lnTo>
                <a:lnTo>
                  <a:pt x="442" y="432"/>
                </a:lnTo>
                <a:lnTo>
                  <a:pt x="0" y="43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6178601" y="4820717"/>
            <a:ext cx="552298" cy="395021"/>
          </a:xfrm>
          <a:custGeom>
            <a:avLst/>
            <a:gdLst/>
            <a:ahLst/>
            <a:cxnLst/>
            <a:rect l="l" t="t" r="r" b="b"/>
            <a:pathLst>
              <a:path w="604" h="432">
                <a:moveTo>
                  <a:pt x="163" y="0"/>
                </a:moveTo>
                <a:lnTo>
                  <a:pt x="604" y="0"/>
                </a:lnTo>
                <a:lnTo>
                  <a:pt x="442" y="432"/>
                </a:lnTo>
                <a:lnTo>
                  <a:pt x="0" y="43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E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7390181" y="3218688"/>
            <a:ext cx="185623" cy="286207"/>
          </a:xfrm>
          <a:custGeom>
            <a:avLst/>
            <a:gdLst/>
            <a:ahLst/>
            <a:cxnLst/>
            <a:rect l="l" t="t" r="r" b="b"/>
            <a:pathLst>
              <a:path w="203" h="313">
                <a:moveTo>
                  <a:pt x="0" y="313"/>
                </a:moveTo>
                <a:lnTo>
                  <a:pt x="203" y="184"/>
                </a:lnTo>
                <a:lnTo>
                  <a:pt x="203" y="0"/>
                </a:lnTo>
                <a:lnTo>
                  <a:pt x="0" y="129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92811" y="3270625"/>
            <a:ext cx="411480" cy="182880"/>
          </a:xfrm>
          <a:prstGeom prst="roundRect">
            <a:avLst>
              <a:gd name="adj" fmla="val 30000"/>
            </a:avLst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8004291" y="3362065"/>
            <a:ext cx="484632" cy="0"/>
          </a:xfrm>
          <a:prstGeom prst="line">
            <a:avLst/>
          </a:prstGeom>
          <a:ln w="50800">
            <a:solidFill>
              <a:srgbClr val="5C6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5696712" y="2318004"/>
            <a:ext cx="207569" cy="42977"/>
          </a:xfrm>
          <a:custGeom>
            <a:avLst/>
            <a:gdLst/>
            <a:ahLst/>
            <a:cxnLst/>
            <a:rect l="l" t="t" r="r" b="b"/>
            <a:pathLst>
              <a:path w="227" h="47">
                <a:moveTo>
                  <a:pt x="227" y="47"/>
                </a:moveTo>
                <a:lnTo>
                  <a:pt x="208" y="30"/>
                </a:lnTo>
                <a:lnTo>
                  <a:pt x="186" y="17"/>
                </a:lnTo>
                <a:lnTo>
                  <a:pt x="163" y="8"/>
                </a:lnTo>
                <a:lnTo>
                  <a:pt x="139" y="2"/>
                </a:lnTo>
                <a:lnTo>
                  <a:pt x="114" y="0"/>
                </a:lnTo>
                <a:lnTo>
                  <a:pt x="89" y="2"/>
                </a:lnTo>
                <a:lnTo>
                  <a:pt x="64" y="8"/>
                </a:lnTo>
                <a:lnTo>
                  <a:pt x="41" y="17"/>
                </a:lnTo>
                <a:lnTo>
                  <a:pt x="20" y="30"/>
                </a:lnTo>
                <a:lnTo>
                  <a:pt x="0" y="47"/>
                </a:lnTo>
              </a:path>
            </a:pathLst>
          </a:custGeom>
          <a:noFill/>
          <a:ln w="3175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5593385" y="2171700"/>
            <a:ext cx="414223" cy="85954"/>
          </a:xfrm>
          <a:custGeom>
            <a:avLst/>
            <a:gdLst/>
            <a:ahLst/>
            <a:cxnLst/>
            <a:rect l="l" t="t" r="r" b="b"/>
            <a:pathLst>
              <a:path w="453" h="94">
                <a:moveTo>
                  <a:pt x="453" y="94"/>
                </a:moveTo>
                <a:lnTo>
                  <a:pt x="415" y="61"/>
                </a:lnTo>
                <a:lnTo>
                  <a:pt x="372" y="35"/>
                </a:lnTo>
                <a:lnTo>
                  <a:pt x="325" y="15"/>
                </a:lnTo>
                <a:lnTo>
                  <a:pt x="277" y="4"/>
                </a:lnTo>
                <a:lnTo>
                  <a:pt x="227" y="0"/>
                </a:lnTo>
                <a:lnTo>
                  <a:pt x="177" y="4"/>
                </a:lnTo>
                <a:lnTo>
                  <a:pt x="128" y="15"/>
                </a:lnTo>
                <a:lnTo>
                  <a:pt x="81" y="35"/>
                </a:lnTo>
                <a:lnTo>
                  <a:pt x="39" y="61"/>
                </a:lnTo>
                <a:lnTo>
                  <a:pt x="0" y="94"/>
                </a:lnTo>
              </a:path>
            </a:pathLst>
          </a:custGeom>
          <a:noFill/>
          <a:ln w="3175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5490058" y="2025396"/>
            <a:ext cx="620878" cy="128016"/>
          </a:xfrm>
          <a:custGeom>
            <a:avLst/>
            <a:gdLst/>
            <a:ahLst/>
            <a:cxnLst/>
            <a:rect l="l" t="t" r="r" b="b"/>
            <a:pathLst>
              <a:path w="679" h="140">
                <a:moveTo>
                  <a:pt x="679" y="140"/>
                </a:moveTo>
                <a:lnTo>
                  <a:pt x="622" y="91"/>
                </a:lnTo>
                <a:lnTo>
                  <a:pt x="558" y="52"/>
                </a:lnTo>
                <a:lnTo>
                  <a:pt x="488" y="23"/>
                </a:lnTo>
                <a:lnTo>
                  <a:pt x="415" y="6"/>
                </a:lnTo>
                <a:lnTo>
                  <a:pt x="340" y="0"/>
                </a:lnTo>
                <a:lnTo>
                  <a:pt x="265" y="6"/>
                </a:lnTo>
                <a:lnTo>
                  <a:pt x="191" y="23"/>
                </a:lnTo>
                <a:lnTo>
                  <a:pt x="122" y="52"/>
                </a:lnTo>
                <a:lnTo>
                  <a:pt x="57" y="91"/>
                </a:lnTo>
                <a:lnTo>
                  <a:pt x="0" y="140"/>
                </a:lnTo>
              </a:path>
            </a:pathLst>
          </a:custGeom>
          <a:noFill/>
          <a:ln w="3175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54867" y="2418405"/>
            <a:ext cx="91440" cy="914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54680" y="614476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完成予想図(イメージ)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17830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1892807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スピーカー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225856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ボタンを押すと人ごとに違うメロディ、取り消しでは取り消し音(I2Sアンプ MAX98357A)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26080" y="2075688"/>
            <a:ext cx="1082649" cy="1463040"/>
          </a:xfrm>
          <a:prstGeom prst="line">
            <a:avLst/>
          </a:prstGeom>
          <a:ln w="19050">
            <a:solidFill>
              <a:srgbClr val="2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944721" y="3474720"/>
            <a:ext cx="128016" cy="128016"/>
          </a:xfrm>
          <a:prstGeom prst="ellipse">
            <a:avLst/>
          </a:prstGeom>
          <a:solidFill>
            <a:srgbClr val="2E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48640" y="3063240"/>
            <a:ext cx="2377440" cy="17830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31729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フルカラーLED ×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538728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押した人：自分の色で点灯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まだの人：入浴中は白くゆっくり明滅。誰もいなければ消灯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926080" y="3355848"/>
            <a:ext cx="1165582" cy="1169287"/>
          </a:xfrm>
          <a:prstGeom prst="line">
            <a:avLst/>
          </a:prstGeom>
          <a:ln w="19050">
            <a:solidFill>
              <a:srgbClr val="EE8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027654" y="4461127"/>
            <a:ext cx="128016" cy="128016"/>
          </a:xfrm>
          <a:prstGeom prst="ellipse">
            <a:avLst/>
          </a:prstGeom>
          <a:solidFill>
            <a:srgbClr val="EE84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" y="3611880"/>
            <a:ext cx="201168" cy="201168"/>
          </a:xfrm>
          <a:prstGeom prst="ellipse">
            <a:avLst/>
          </a:prstGeom>
          <a:solidFill>
            <a:srgbClr val="3A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24128" y="3611880"/>
            <a:ext cx="201168" cy="201168"/>
          </a:xfrm>
          <a:prstGeom prst="ellipse">
            <a:avLst/>
          </a:prstGeom>
          <a:solidFill>
            <a:srgbClr val="E05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1316736" y="3611880"/>
            <a:ext cx="201168" cy="201168"/>
          </a:xfrm>
          <a:prstGeom prst="ellipse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1609344" y="3611880"/>
            <a:ext cx="201168" cy="201168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1901952" y="3611880"/>
            <a:ext cx="201168" cy="201168"/>
          </a:xfrm>
          <a:prstGeom prst="ellipse">
            <a:avLst/>
          </a:prstGeom>
          <a:solidFill>
            <a:srgbClr val="E8C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48640" y="502920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1389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ボタン × 5(1人1個)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50468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押して離すと入浴済みに。長押し(2秒)で取り消し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2926080" y="5018492"/>
            <a:ext cx="887332" cy="303316"/>
          </a:xfrm>
          <a:prstGeom prst="line">
            <a:avLst/>
          </a:prstGeom>
          <a:ln w="19050">
            <a:solidFill>
              <a:srgbClr val="EE8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749404" y="4954484"/>
            <a:ext cx="128016" cy="128016"/>
          </a:xfrm>
          <a:prstGeom prst="ellipse">
            <a:avLst/>
          </a:prstGeom>
          <a:solidFill>
            <a:srgbClr val="EE84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281160" y="17830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64040" y="1892807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Wi-Fi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225856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自宅LANのサーバーへ送信。切れていてもパネルは単体で動く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6257787" y="2075688"/>
            <a:ext cx="3023373" cy="114117"/>
          </a:xfrm>
          <a:prstGeom prst="line">
            <a:avLst/>
          </a:prstGeom>
          <a:ln w="19050">
            <a:solidFill>
              <a:srgbClr val="2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193779" y="2125797"/>
            <a:ext cx="128016" cy="128016"/>
          </a:xfrm>
          <a:prstGeom prst="ellipse">
            <a:avLst/>
          </a:prstGeom>
          <a:solidFill>
            <a:srgbClr val="2E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281160" y="306324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64040" y="31729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USB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353872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USBで給電。箱の中にはマイコン Raspberry Pi Pico 2 W(Wi-Fi内蔵)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8488923" y="3355848"/>
            <a:ext cx="792237" cy="6217"/>
          </a:xfrm>
          <a:prstGeom prst="line">
            <a:avLst/>
          </a:prstGeom>
          <a:ln w="19050">
            <a:solidFill>
              <a:srgbClr val="2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424915" y="3298057"/>
            <a:ext cx="128016" cy="128016"/>
          </a:xfrm>
          <a:prstGeom prst="ellipse">
            <a:avLst/>
          </a:prstGeom>
          <a:solidFill>
            <a:srgbClr val="2E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281160" y="4572000"/>
            <a:ext cx="2377440" cy="16459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64040" y="46817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照度センサー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64040" y="5047488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脱衣所の明るさで「入浴中」を判定。明るさのしきい値は調整できる</a:t>
            </a:r>
          </a:p>
        </p:txBody>
      </p:sp>
      <p:cxnSp>
        <p:nvCxnSpPr>
          <p:cNvPr id="69" name="Connector 68"/>
          <p:cNvCxnSpPr/>
          <p:nvPr/>
        </p:nvCxnSpPr>
        <p:spPr>
          <a:xfrm flipH="1" flipV="1">
            <a:off x="6120262" y="3538728"/>
            <a:ext cx="3160898" cy="1325880"/>
          </a:xfrm>
          <a:prstGeom prst="line">
            <a:avLst/>
          </a:prstGeom>
          <a:ln w="19050">
            <a:solidFill>
              <a:srgbClr val="2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056254" y="3474720"/>
            <a:ext cx="128016" cy="128016"/>
          </a:xfrm>
          <a:prstGeom prst="ellipse">
            <a:avLst/>
          </a:prstGeom>
          <a:solidFill>
            <a:srgbClr val="2E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仕様：サーバーとダッシュボード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自宅の Raspberry Pi 4 で24時間稼働。記録を保存し、見やすく表示する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4663440"/>
          </a:xfrm>
          <a:prstGeom prst="roundRect">
            <a:avLst>
              <a:gd name="adj" fmla="val 10000"/>
            </a:avLst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Bath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入浴中(21:32〜)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おじいちゃん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191256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入浴済み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30752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おばあちゃん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3767328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0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まだ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0682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お父さん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3434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入浴済み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82896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お母さん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491947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入浴済み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58968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息子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549554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0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まだ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ダッシュボードのイメージ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737360"/>
            <a:ext cx="7223760" cy="100584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865376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1日単位で記録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26771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同じ日に何度押しても記録は1回分。取り消しは長押しで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907791"/>
            <a:ext cx="7223760" cy="100584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17720" y="3136391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03580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0時に自動リセット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4381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日付を比較するだけの仕組みで、タイマー処理なしでリセット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078224"/>
            <a:ext cx="7223760" cy="100584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17720" y="4306824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2062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入退室の履歴を保存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608576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在室/不在の変化は削除せず追記し、いつ入浴していたかを残す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5248656"/>
            <a:ext cx="7223760" cy="100584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4617720" y="5477256"/>
            <a:ext cx="548640" cy="54864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537667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5秒ごとに自動更新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77900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自宅LAN内のスマホ/PCのブラウザで開くだけ。アプリ不要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全体システム構成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浴室パネル・自宅サーバー・ブラウザの3つを自宅LANでつなぐ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浴室パネル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Raspberry Pi Pico 2 W(Rust)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283464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ボタン × 5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照度センサー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フルカラーLED × 5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アンプ + スピーカー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Wi-Fi(CYW43439)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9659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自宅サーバー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3957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Raspberry Pi 4(Python / Flask)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834639"/>
            <a:ext cx="283464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HTTP API を受け付け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SQLite に記録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0時で日次リセット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ダッシュボード(HTML)を配信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systemd で自動起動・再起動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965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スマホ / 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3957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ブラウザのみ(アプリ不要)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34639"/>
            <a:ext cx="274320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誰が入浴済みか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今、入浴中か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5秒ごとに自動更新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59352" y="2926080"/>
            <a:ext cx="448056" cy="0"/>
          </a:xfrm>
          <a:prstGeom prst="line">
            <a:avLst/>
          </a:prstGeom>
          <a:ln w="38100">
            <a:solidFill>
              <a:srgbClr val="EE84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959352" y="3931920"/>
            <a:ext cx="448056" cy="0"/>
          </a:xfrm>
          <a:prstGeom prst="line">
            <a:avLst/>
          </a:prstGeom>
          <a:ln w="38100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45552" y="3429000"/>
            <a:ext cx="448056" cy="0"/>
          </a:xfrm>
          <a:prstGeom prst="line">
            <a:avLst/>
          </a:prstGeom>
          <a:ln w="38100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B8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5715000"/>
            <a:ext cx="201168" cy="201168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60527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パネル → サーバー：</a:t>
            </a:r>
            <a:r>
              <a:rPr sz="12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ボタン押下/取り消し・在室の変化を送信(HTTP POST)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6108192"/>
            <a:ext cx="201168" cy="201168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5998464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サーバー → パネル/ブラウザ：</a:t>
            </a:r>
            <a:r>
              <a:rPr sz="12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LED状態の定期同期・ダッシュボード表示(HTTP GET)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浴室パネルの内部構成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2つのCPUコアで役割を分担し、Wi-Fi通信と音の再生が互いに邪魔しない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737360"/>
            <a:ext cx="4434840" cy="4480560"/>
          </a:xfrm>
          <a:prstGeom prst="roundRect">
            <a:avLst>
              <a:gd name="adj" fmla="val 8000"/>
            </a:avLst>
          </a:prstGeom>
          <a:solidFill>
            <a:srgbClr val="0E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0520" y="192024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Pico 2 W(RP2350)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468880"/>
            <a:ext cx="3886200" cy="1965960"/>
          </a:xfrm>
          <a:prstGeom prst="roundRect">
            <a:avLst>
              <a:gd name="adj" fmla="val 8000"/>
            </a:avLst>
          </a:prstGeom>
          <a:solidFill>
            <a:srgbClr val="1C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57860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7B47C"/>
                </a:solidFill>
                <a:latin typeface="Arial"/>
                <a:ea typeface="Hiragino Sans"/>
                <a:cs typeface="Hiragino Sans"/>
              </a:rPr>
              <a:t>CORE0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26080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200"/>
              </a:spcAft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ボタン/センサーの読み取り</a:t>
            </a:r>
          </a:p>
          <a:p>
            <a:pPr marL="228600" indent="-228600" algn="l">
              <a:spcAft>
                <a:spcPts val="200"/>
              </a:spcAft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LED描画(10fps)</a:t>
            </a:r>
          </a:p>
          <a:p>
            <a:pPr marL="228600" indent="-228600" algn="l">
              <a:spcAft>
                <a:spcPts val="200"/>
              </a:spcAft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Wi-Fi接続管理・HTTP送信</a:t>
            </a:r>
          </a:p>
          <a:p>
            <a:pPr marL="228600" indent="-228600" algn="l">
              <a:spcAft>
                <a:spcPts val="200"/>
              </a:spcAft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サーバーとのLED状態同期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4572000"/>
            <a:ext cx="3886200" cy="1417320"/>
          </a:xfrm>
          <a:prstGeom prst="roundRect">
            <a:avLst>
              <a:gd name="adj" fmla="val 8000"/>
            </a:avLst>
          </a:prstGeom>
          <a:solidFill>
            <a:srgbClr val="1C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468172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7B47C"/>
                </a:solidFill>
                <a:latin typeface="Arial"/>
                <a:ea typeface="Hiragino Sans"/>
                <a:cs typeface="Hiragino Sans"/>
              </a:rPr>
              <a:t>CORE1(音専用)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200"/>
              </a:spcAft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メロディ再生 → シンセ合成</a:t>
            </a:r>
          </a:p>
          <a:p>
            <a:pPr marL="228600" indent="-228600" algn="l">
              <a:spcAft>
                <a:spcPts val="200"/>
              </a:spcAft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→ I2Sへ途切れず出力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押しボタン ×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GPIO 2〜6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照度センサー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GPIO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Wi-Fiチップ CYW43439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PIO0(SPI)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93008" y="2395728"/>
            <a:ext cx="365760" cy="0"/>
          </a:xfrm>
          <a:prstGeom prst="line">
            <a:avLst/>
          </a:prstGeom>
          <a:ln w="28575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93008" y="3813048"/>
            <a:ext cx="365760" cy="0"/>
          </a:xfrm>
          <a:prstGeom prst="line">
            <a:avLst/>
          </a:prstGeom>
          <a:ln w="28575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93008" y="5230368"/>
            <a:ext cx="365760" cy="0"/>
          </a:xfrm>
          <a:prstGeom prst="line">
            <a:avLst/>
          </a:prstGeom>
          <a:ln w="28575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86800" y="182880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15400" y="1938528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フルカラーLED ×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560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GPIO 15 / PIO1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6634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15400" y="4773168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アンプ MAX98357A
+ スピーカー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39495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GPIO 16〜18 / PIO2(I2S)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39327" y="2395728"/>
            <a:ext cx="320041" cy="0"/>
          </a:xfrm>
          <a:prstGeom prst="line">
            <a:avLst/>
          </a:prstGeom>
          <a:ln w="28575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39327" y="5230368"/>
            <a:ext cx="320041" cy="0"/>
          </a:xfrm>
          <a:prstGeom prst="line">
            <a:avLst/>
          </a:prstGeom>
          <a:ln w="28575">
            <a:solidFill>
              <a:srgbClr val="2E9A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0" y="324612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ボタンを押したときの点灯とメロディは、Wi-Fiを使わずパネルの中だけで完結する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通信の取り決め(HTTP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パネルとサーバーは JSON / テキストの小さな HTTP リクエストだけでやりとりする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Hiragino Sans"/>
                          <a:cs typeface="Hiragino Sans"/>
                        </a:rPr>
                        <a:t>メソッド</a:t>
                      </a:r>
                    </a:p>
                  </a:txBody>
                  <a:tcPr marL="137160" anchor="ctr">
                    <a:solidFill>
                      <a:srgbClr val="0E4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Hiragino Sans"/>
                          <a:cs typeface="Hiragino Sans"/>
                        </a:rPr>
                        <a:t>パス</a:t>
                      </a:r>
                    </a:p>
                  </a:txBody>
                  <a:tcPr marL="137160" anchor="ctr">
                    <a:solidFill>
                      <a:srgbClr val="0E4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Hiragino Sans"/>
                          <a:cs typeface="Hiragino Sans"/>
                        </a:rPr>
                        <a:t>内容</a:t>
                      </a:r>
                    </a:p>
                  </a:txBody>
                  <a:tcPr marL="137160" anchor="ctr">
                    <a:solidFill>
                      <a:srgbClr val="0E4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Hiragino Sans"/>
                          <a:cs typeface="Hiragino Sans"/>
                        </a:rPr>
                        <a:t>意味</a:t>
                      </a:r>
                    </a:p>
                  </a:txBody>
                  <a:tcPr marL="137160" anchor="ctr">
                    <a:solidFill>
                      <a:srgbClr val="0E4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E8434"/>
                          </a:solidFill>
                          <a:latin typeface="Arial"/>
                          <a:ea typeface="Hiragino Sans"/>
                          <a:cs typeface="Hiragino Sans"/>
                        </a:rPr>
                        <a:t>POST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/api/press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{"person":"father"}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D33"/>
                          </a:solidFill>
                          <a:latin typeface="Arial"/>
                          <a:ea typeface="Hiragino Sans"/>
                          <a:cs typeface="Hiragino Sans"/>
                        </a:rPr>
                        <a:t>ボタンを押して離した(入浴済みにする)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E8434"/>
                          </a:solidFill>
                          <a:latin typeface="Arial"/>
                          <a:ea typeface="Hiragino Sans"/>
                          <a:cs typeface="Hiragino Sans"/>
                        </a:rPr>
                        <a:t>POST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/api/cancel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{"person":"father"}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D33"/>
                          </a:solidFill>
                          <a:latin typeface="Arial"/>
                          <a:ea typeface="Hiragino Sans"/>
                          <a:cs typeface="Hiragino Sans"/>
                        </a:rPr>
                        <a:t>2秒長押し(その日の入浴記録を取り消す)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E8434"/>
                          </a:solidFill>
                          <a:latin typeface="Arial"/>
                          <a:ea typeface="Hiragino Sans"/>
                          <a:cs typeface="Hiragino Sans"/>
                        </a:rPr>
                        <a:t>POST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/api/occupancy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{"occupied":true}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D33"/>
                          </a:solidFill>
                          <a:latin typeface="Arial"/>
                          <a:ea typeface="Hiragino Sans"/>
                          <a:cs typeface="Hiragino Sans"/>
                        </a:rPr>
                        <a:t>在室状態が変化した(履歴に追記)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9AA8"/>
                          </a:solidFill>
                          <a:latin typeface="Arial"/>
                          <a:ea typeface="Hiragino Sans"/>
                          <a:cs typeface="Hiragino Sans"/>
                        </a:rPr>
                        <a:t>GET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/api/led-state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→ "10110"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D33"/>
                          </a:solidFill>
                          <a:latin typeface="Arial"/>
                          <a:ea typeface="Hiragino Sans"/>
                          <a:cs typeface="Hiragino Sans"/>
                        </a:rPr>
                        <a:t>1人1文字でLED状態を返す(パネルが定期取得)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9AA8"/>
                          </a:solidFill>
                          <a:latin typeface="Arial"/>
                          <a:ea typeface="Hiragino Sans"/>
                          <a:cs typeface="Hiragino Sans"/>
                        </a:rPr>
                        <a:t>GET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/api/status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→ JSON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D33"/>
                          </a:solidFill>
                          <a:latin typeface="Arial"/>
                          <a:ea typeface="Hiragino Sans"/>
                          <a:cs typeface="Hiragino Sans"/>
                        </a:rPr>
                        <a:t>全員の状態と在室状態のスナップショット</a:t>
                      </a:r>
                    </a:p>
                  </a:txBody>
                  <a:tcPr marL="137160" anchor="ctr">
                    <a:solidFill>
                      <a:srgbClr val="E3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9AA8"/>
                          </a:solidFill>
                          <a:latin typeface="Arial"/>
                          <a:ea typeface="Hiragino Sans"/>
                          <a:cs typeface="Hiragino Sans"/>
                        </a:rPr>
                        <a:t>GET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/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4A5A"/>
                          </a:solidFill>
                          <a:latin typeface="Courier New"/>
                          <a:ea typeface="Hiragino Sans"/>
                          <a:cs typeface="Hiragino Sans"/>
                        </a:rPr>
                        <a:t>→ HTML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D33"/>
                          </a:solidFill>
                          <a:latin typeface="Arial"/>
                          <a:ea typeface="Hiragino Sans"/>
                          <a:cs typeface="Hiragino Sans"/>
                        </a:rPr>
                        <a:t>ダッシュボード(5秒ごとに自動更新)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パネル→サーバーの送信は、届くまで(2xx応答まで)再送。オフライン中の操作も後で必ず届く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人の並び順(おじいちゃん・おばあちゃん・お父さん・お母さん・息子)はパネルとサーバーで共通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設計のポイント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家族が毎日使うものなので「止まらない・取りこぼさない」を重視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2140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Wi-Fiが切れても使える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ボタン・LED・メロディ・センサーは Wi-Fi より先に起動。通信状態に関係なく動作する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12140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操作を取りこぼさない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サーバーに届けるべき操作をパネル内に保持し、つながったら届くまで再送。人ごとに最新の操作だけを送る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40740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サーバーと自動で一致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パネルは定期的にLED状態をサーバーから取得。0時のリセットや再起動後も正しい表示に戻る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40740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音が途切れない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663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音の合成と出力はCORE1専用。通信処理の遅れが音に影響しない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E4A5A"/>
                </a:solidFill>
                <a:latin typeface="Arial"/>
                <a:ea typeface="Hiragino Sans"/>
                <a:cs typeface="Hiragino Sans"/>
              </a:rPr>
              <a:t>使っている技術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ファームウェア・サーバー・基板の3つを1つのリポジトリで管理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C6F75"/>
                </a:solidFill>
                <a:latin typeface="Arial"/>
                <a:ea typeface="Hiragino Sans"/>
                <a:cs typeface="Hiragino San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0E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ファームウェア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Rust(no_std)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632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embassy-rp:非同期ランタイム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cyw43 / embassy-net:Wi-Fi・TCP/IP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reqwless:HTTPクライアント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PIO + DMA:LED・I2S・Wi-Fi SPI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picotool で書き込み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79" y="173736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999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サーバー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2860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632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Flask:Web API・画面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SQLite:データ保存(テーブル2つ)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waitress:本番用WSGIサーバー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systemd:自動起動・再起動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pytest:自動テスト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3736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E3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19" y="1737360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ハードウェア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KiCad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632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Raspberry Pi Pico 2 W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NeoPixel(WS2812)× 5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MAX98357A I2Sアンプ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CdS + LM393 光検出モジュール</a:t>
            </a:r>
          </a:p>
          <a:p>
            <a:pPr marL="228600" indent="-228600" algn="l">
              <a:spcAft>
                <a:spcPts val="9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Arial"/>
                <a:ea typeface="Hiragino Sans"/>
                <a:cs typeface="Hiragino Sans"/>
              </a:rPr>
              <a:t>専用基板を設計中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現在の状況と次のステップ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714500" y="2148840"/>
            <a:ext cx="1234440" cy="0"/>
          </a:xfrm>
          <a:prstGeom prst="line">
            <a:avLst/>
          </a:prstGeom>
          <a:ln w="25400">
            <a:solidFill>
              <a:srgbClr val="5E8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589020" y="2148840"/>
            <a:ext cx="1234439" cy="0"/>
          </a:xfrm>
          <a:prstGeom prst="line">
            <a:avLst/>
          </a:prstGeom>
          <a:ln w="25400">
            <a:solidFill>
              <a:srgbClr val="5E8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63539" y="2148840"/>
            <a:ext cx="1234440" cy="0"/>
          </a:xfrm>
          <a:prstGeom prst="line">
            <a:avLst/>
          </a:prstGeom>
          <a:ln w="25400">
            <a:solidFill>
              <a:srgbClr val="5E8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38059" y="2148840"/>
            <a:ext cx="1234441" cy="0"/>
          </a:xfrm>
          <a:prstGeom prst="line">
            <a:avLst/>
          </a:prstGeom>
          <a:ln w="25400">
            <a:solidFill>
              <a:srgbClr val="5E8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212580" y="2148840"/>
            <a:ext cx="1234440" cy="0"/>
          </a:xfrm>
          <a:prstGeom prst="line">
            <a:avLst/>
          </a:prstGeom>
          <a:ln w="25400">
            <a:solidFill>
              <a:srgbClr val="5E8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74419" y="1828800"/>
            <a:ext cx="640080" cy="64008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設計・実装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ファームウェア/サーバー
一通り実装</a:t>
            </a:r>
          </a:p>
        </p:txBody>
      </p:sp>
      <p:sp>
        <p:nvSpPr>
          <p:cNvPr id="11" name="Oval 10"/>
          <p:cNvSpPr/>
          <p:nvPr/>
        </p:nvSpPr>
        <p:spPr>
          <a:xfrm>
            <a:off x="2948940" y="1828800"/>
            <a:ext cx="640080" cy="64008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432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サーバー稼働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004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Raspberry Pi 4で稼働
スマホから閲覧OK</a:t>
            </a:r>
          </a:p>
        </p:txBody>
      </p:sp>
      <p:sp>
        <p:nvSpPr>
          <p:cNvPr id="14" name="Oval 13"/>
          <p:cNvSpPr/>
          <p:nvPr/>
        </p:nvSpPr>
        <p:spPr>
          <a:xfrm>
            <a:off x="4823459" y="1828800"/>
            <a:ext cx="640080" cy="640080"/>
          </a:xfrm>
          <a:prstGeom prst="ellipse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432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ブレッドボード検証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2004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Wi-Fi・送信・ボタン・
音・LED・センサー</a:t>
            </a:r>
          </a:p>
        </p:txBody>
      </p:sp>
      <p:sp>
        <p:nvSpPr>
          <p:cNvPr id="17" name="Oval 16"/>
          <p:cNvSpPr/>
          <p:nvPr/>
        </p:nvSpPr>
        <p:spPr>
          <a:xfrm>
            <a:off x="6697979" y="1828800"/>
            <a:ext cx="640080" cy="640080"/>
          </a:xfrm>
          <a:prstGeom prst="ellipse">
            <a:avLst/>
          </a:prstGeom>
          <a:solidFill>
            <a:srgbClr val="EE8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432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専用基板の設計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32004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KiCadで回路図・
基板データを作成中</a:t>
            </a:r>
          </a:p>
        </p:txBody>
      </p:sp>
      <p:sp>
        <p:nvSpPr>
          <p:cNvPr id="20" name="Oval 19"/>
          <p:cNvSpPr/>
          <p:nvPr/>
        </p:nvSpPr>
        <p:spPr>
          <a:xfrm>
            <a:off x="8572500" y="1828800"/>
            <a:ext cx="640080" cy="640080"/>
          </a:xfrm>
          <a:prstGeom prst="ellipse">
            <a:avLst/>
          </a:prstGeom>
          <a:solidFill>
            <a:srgbClr val="1C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7432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基板製作・全機能確認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004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5個のボタン、音量、
人ごとの色など</a:t>
            </a:r>
          </a:p>
        </p:txBody>
      </p:sp>
      <p:sp>
        <p:nvSpPr>
          <p:cNvPr id="23" name="Oval 22"/>
          <p:cNvSpPr/>
          <p:nvPr/>
        </p:nvSpPr>
        <p:spPr>
          <a:xfrm>
            <a:off x="10447020" y="1828800"/>
            <a:ext cx="640080" cy="640080"/>
          </a:xfrm>
          <a:prstGeom prst="ellipse">
            <a:avLst/>
          </a:prstGeom>
          <a:solidFill>
            <a:srgbClr val="1C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43200"/>
            <a:ext cx="1874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浴室に設置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2004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FE9ED"/>
                </a:solidFill>
                <a:latin typeface="Arial"/>
                <a:ea typeface="Hiragino Sans"/>
                <a:cs typeface="Hiragino Sans"/>
              </a:rPr>
              <a:t>センサーのしきい値を
実際の明るさで調整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1C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Hiragino Sans"/>
                <a:cs typeface="Hiragino Sans"/>
              </a:rPr>
              <a:t>基板が完成したら全機能をチェックし、浴室に設置して家族で使い始める予定です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1055</Words>
  <Application>Microsoft Macintosh PowerPoint</Application>
  <PresentationFormat>ワイド画面</PresentationFormat>
  <Paragraphs>241</Paragraphs>
  <Slides>12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Tsukushi A Round Gothic Regular</vt:lpstr>
      <vt:lpstr>Arial</vt:lpstr>
      <vt:lpstr>Calibri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長谷部 長谷部</cp:lastModifiedBy>
  <cp:revision>2</cp:revision>
  <dcterms:created xsi:type="dcterms:W3CDTF">2013-01-27T09:14:16Z</dcterms:created>
  <dcterms:modified xsi:type="dcterms:W3CDTF">2026-09-27T06:36:24Z</dcterms:modified>
  <cp:category/>
</cp:coreProperties>
</file>